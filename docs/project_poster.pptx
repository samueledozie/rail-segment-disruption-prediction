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4" r:id="rId10"/>
    <p:sldId id="264" r:id="rId11"/>
    <p:sldId id="265" r:id="rId12"/>
    <p:sldId id="267" r:id="rId13"/>
    <p:sldId id="266" r:id="rId14"/>
    <p:sldId id="27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4550" autoAdjust="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(2018)</c:v>
                </c:pt>
              </c:strCache>
            </c:strRef>
          </c:tx>
          <c:spPr>
            <a:solidFill>
              <a:srgbClr val="1B2A4E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02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≥ 5 min</c:v>
                </c:pt>
                <c:pt idx="1">
                  <c:v>≥ 10 min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34.200000000000003</c:v>
                </c:pt>
                <c:pt idx="1">
                  <c:v>12.3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88-4287-97DD-56883947CF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(2019 Mar–May)</c:v>
                </c:pt>
              </c:strCache>
            </c:strRef>
          </c:tx>
          <c:spPr>
            <a:solidFill>
              <a:srgbClr val="F77F00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02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≥ 5 min</c:v>
                </c:pt>
                <c:pt idx="1">
                  <c:v>≥ 10 min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25.2</c:v>
                </c:pt>
                <c:pt idx="1">
                  <c:v>7.1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D88-4287-97DD-56883947CF2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lang="en-GB" sz="1100" b="0" i="0" u="none" strike="noStrike" noProof="0" dirty="0">
                    <a:solidFill>
                      <a:srgbClr val="64748B"/>
                    </a:solidFill>
                    <a:latin typeface="Arial"/>
                  </a:rPr>
                  <a:t>Positive rate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E"/>
                </a:solidFill>
                <a:latin typeface="Calibri"/>
              </a:defRPr>
            </a:pPr>
            <a:r>
              <a:rPr lang="en-GB" sz="1400" b="0" i="0" u="none" strike="noStrike" noProof="0" dirty="0">
                <a:solidFill>
                  <a:srgbClr val="1B2A4E"/>
                </a:solidFill>
                <a:latin typeface="Calibri"/>
              </a:rPr>
              <a:t>Cross-year test PR-AUC (≥5 min)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PR-AUC</c:v>
                </c:pt>
              </c:strCache>
            </c:strRef>
          </c:tx>
          <c:spPr>
            <a:solidFill>
              <a:srgbClr val="F77F00">
                <a:alpha val="90000"/>
              </a:srgbClr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02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XGB + CW</c:v>
                </c:pt>
                <c:pt idx="1">
                  <c:v>XGB + CW + SMOTE</c:v>
                </c:pt>
                <c:pt idx="2">
                  <c:v>XGB + CW (Tuned)</c:v>
                </c:pt>
                <c:pt idx="3">
                  <c:v>RF + CW + SMOTE</c:v>
                </c:pt>
                <c:pt idx="4">
                  <c:v>RF + CW</c:v>
                </c:pt>
                <c:pt idx="5">
                  <c:v>LR + CW</c:v>
                </c:pt>
                <c:pt idx="6">
                  <c:v>LR + CW + SMOTE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0.51339999999999997</c:v>
                </c:pt>
                <c:pt idx="1">
                  <c:v>0.50739999999999996</c:v>
                </c:pt>
                <c:pt idx="2">
                  <c:v>0.48720000000000002</c:v>
                </c:pt>
                <c:pt idx="3">
                  <c:v>0.48549999999999999</c:v>
                </c:pt>
                <c:pt idx="4">
                  <c:v>0.48399999999999999</c:v>
                </c:pt>
                <c:pt idx="5">
                  <c:v>0.4597</c:v>
                </c:pt>
                <c:pt idx="6">
                  <c:v>0.4572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27-4A32-9936-36C5E5942D0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0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55000000000000004"/>
          <c:min val="0.4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Best PR-AUC</c:v>
                </c:pt>
              </c:strCache>
            </c:strRef>
          </c:tx>
          <c:spPr>
            <a:ln w="38100" cap="flat">
              <a:solidFill>
                <a:srgbClr val="F77F00"/>
              </a:solidFill>
              <a:prstDash val="solid"/>
              <a:round/>
            </a:ln>
            <a:effectLst/>
          </c:spPr>
          <c:marker>
            <c:symbol val="circle"/>
            <c:size val="10"/>
            <c:spPr>
              <a:solidFill>
                <a:srgbClr val="F77F00"/>
              </a:solidFill>
              <a:ln w="9525" cap="flat">
                <a:solidFill>
                  <a:srgbClr val="F77F00"/>
                </a:solidFill>
                <a:prstDash val="solid"/>
                <a:round/>
              </a:ln>
              <a:effectLst/>
            </c:spPr>
          </c:marker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A4E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P1
(1mo, LR)</c:v>
                </c:pt>
                <c:pt idx="1">
                  <c:v>P1.5
(3mo, LR)</c:v>
                </c:pt>
                <c:pt idx="2">
                  <c:v>P2
(6mo, XGB)</c:v>
                </c:pt>
                <c:pt idx="3">
                  <c:v>P3
(8mo, XGB+lag)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0.25130000000000002</c:v>
                </c:pt>
                <c:pt idx="1">
                  <c:v>0.29010000000000002</c:v>
                </c:pt>
                <c:pt idx="2">
                  <c:v>0.43569999999999998</c:v>
                </c:pt>
                <c:pt idx="3">
                  <c:v>0.51339999999999997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7A6-4E34-AD3A-3520E670EDF0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0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"/>
          <c:min val="0.2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≥ 5 min</c:v>
                </c:pt>
              </c:strCache>
            </c:strRef>
          </c:tx>
          <c:spPr>
            <a:solidFill>
              <a:srgbClr val="1B2A4E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02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PR-AUC</c:v>
                </c:pt>
                <c:pt idx="1">
                  <c:v>Recall</c:v>
                </c:pt>
                <c:pt idx="2">
                  <c:v>F1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0.51339999999999997</c:v>
                </c:pt>
                <c:pt idx="1">
                  <c:v>0.55159999999999998</c:v>
                </c:pt>
                <c:pt idx="2">
                  <c:v>0.50929999999999997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AC-4752-A37A-17E49B93E2B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≥ 10 min</c:v>
                </c:pt>
              </c:strCache>
            </c:strRef>
          </c:tx>
          <c:spPr>
            <a:solidFill>
              <a:srgbClr val="F77F00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02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PR-AUC</c:v>
                </c:pt>
                <c:pt idx="1">
                  <c:v>Recall</c:v>
                </c:pt>
                <c:pt idx="2">
                  <c:v>F1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0.18659999999999999</c:v>
                </c:pt>
                <c:pt idx="1">
                  <c:v>0.55730000000000002</c:v>
                </c:pt>
                <c:pt idx="2">
                  <c:v>0.24740000000000001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AC-4752-A37A-17E49B93E2B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0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ln w="31750" cap="flat">
              <a:solidFill>
                <a:srgbClr val="0077B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7B6"/>
              </a:solidFill>
              <a:ln w="9525" cap="flat">
                <a:solidFill>
                  <a:srgbClr val="0077B6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0.10</c:v>
                </c:pt>
                <c:pt idx="1">
                  <c:v>0.20</c:v>
                </c:pt>
                <c:pt idx="2">
                  <c:v>0.30</c:v>
                </c:pt>
                <c:pt idx="3">
                  <c:v>0.40</c:v>
                </c:pt>
                <c:pt idx="4">
                  <c:v>0.50</c:v>
                </c:pt>
                <c:pt idx="5">
                  <c:v>0.60</c:v>
                </c:pt>
                <c:pt idx="6">
                  <c:v>0.70</c:v>
                </c:pt>
                <c:pt idx="7">
                  <c:v>0.80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0.28299999999999997</c:v>
                </c:pt>
                <c:pt idx="1">
                  <c:v>0.30299999999999999</c:v>
                </c:pt>
                <c:pt idx="2">
                  <c:v>0.34399999999999997</c:v>
                </c:pt>
                <c:pt idx="3">
                  <c:v>0.40699999999999997</c:v>
                </c:pt>
                <c:pt idx="4">
                  <c:v>0.49199999999999999</c:v>
                </c:pt>
                <c:pt idx="5">
                  <c:v>0.57799999999999996</c:v>
                </c:pt>
                <c:pt idx="6">
                  <c:v>0.67600000000000005</c:v>
                </c:pt>
                <c:pt idx="7">
                  <c:v>0.82499999999999996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624-4B3B-AAD0-FB1A0FB9FDD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ln w="31750" cap="flat">
              <a:solidFill>
                <a:srgbClr val="1B2A4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2A4E"/>
              </a:solidFill>
              <a:ln w="9525" cap="flat">
                <a:solidFill>
                  <a:srgbClr val="1B2A4E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0.10</c:v>
                </c:pt>
                <c:pt idx="1">
                  <c:v>0.20</c:v>
                </c:pt>
                <c:pt idx="2">
                  <c:v>0.30</c:v>
                </c:pt>
                <c:pt idx="3">
                  <c:v>0.40</c:v>
                </c:pt>
                <c:pt idx="4">
                  <c:v>0.50</c:v>
                </c:pt>
                <c:pt idx="5">
                  <c:v>0.60</c:v>
                </c:pt>
                <c:pt idx="6">
                  <c:v>0.70</c:v>
                </c:pt>
                <c:pt idx="7">
                  <c:v>0.80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0.999</c:v>
                </c:pt>
                <c:pt idx="1">
                  <c:v>0.97799999999999998</c:v>
                </c:pt>
                <c:pt idx="2">
                  <c:v>0.89900000000000002</c:v>
                </c:pt>
                <c:pt idx="3">
                  <c:v>0.72599999999999998</c:v>
                </c:pt>
                <c:pt idx="4">
                  <c:v>0.49099999999999999</c:v>
                </c:pt>
                <c:pt idx="5">
                  <c:v>0.30299999999999999</c:v>
                </c:pt>
                <c:pt idx="6">
                  <c:v>0.13900000000000001</c:v>
                </c:pt>
                <c:pt idx="7">
                  <c:v>0.03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0624-4B3B-AAD0-FB1A0FB9FDD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</c:v>
                </c:pt>
              </c:strCache>
            </c:strRef>
          </c:tx>
          <c:spPr>
            <a:ln w="31750" cap="flat">
              <a:solidFill>
                <a:srgbClr val="F77F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77F00"/>
              </a:solidFill>
              <a:ln w="9525" cap="flat">
                <a:solidFill>
                  <a:srgbClr val="F77F00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0.10</c:v>
                </c:pt>
                <c:pt idx="1">
                  <c:v>0.20</c:v>
                </c:pt>
                <c:pt idx="2">
                  <c:v>0.30</c:v>
                </c:pt>
                <c:pt idx="3">
                  <c:v>0.40</c:v>
                </c:pt>
                <c:pt idx="4">
                  <c:v>0.50</c:v>
                </c:pt>
                <c:pt idx="5">
                  <c:v>0.60</c:v>
                </c:pt>
                <c:pt idx="6">
                  <c:v>0.70</c:v>
                </c:pt>
                <c:pt idx="7">
                  <c:v>0.80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0.441</c:v>
                </c:pt>
                <c:pt idx="1">
                  <c:v>0.46300000000000002</c:v>
                </c:pt>
                <c:pt idx="2">
                  <c:v>0.498</c:v>
                </c:pt>
                <c:pt idx="3">
                  <c:v>0.52200000000000002</c:v>
                </c:pt>
                <c:pt idx="4">
                  <c:v>0.49099999999999999</c:v>
                </c:pt>
                <c:pt idx="5">
                  <c:v>0.39800000000000002</c:v>
                </c:pt>
                <c:pt idx="6">
                  <c:v>0.23100000000000001</c:v>
                </c:pt>
                <c:pt idx="7">
                  <c:v>5.7000000000000002E-2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0624-4B3B-AAD0-FB1A0FB9FD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lang="en-GB" sz="1000" b="0" i="0" u="none" strike="noStrike" noProof="0" dirty="0">
                    <a:solidFill>
                      <a:srgbClr val="64748B"/>
                    </a:solidFill>
                    <a:latin typeface="Arial"/>
                  </a:rPr>
                  <a:t>Probability threshold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0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85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479-44E3-8C97-378A29376B7B}"/>
              </c:ext>
            </c:extLst>
          </c:dPt>
          <c:dPt>
            <c:idx val="1"/>
            <c:bubble3D val="0"/>
            <c:spPr>
              <a:solidFill>
                <a:srgbClr val="9AE6B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479-44E3-8C97-378A29376B7B}"/>
              </c:ext>
            </c:extLst>
          </c:dPt>
          <c:dPt>
            <c:idx val="2"/>
            <c:bubble3D val="0"/>
            <c:spPr>
              <a:solidFill>
                <a:srgbClr val="DD6B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479-44E3-8C97-378A29376B7B}"/>
              </c:ext>
            </c:extLst>
          </c:dPt>
          <c:dPt>
            <c:idx val="3"/>
            <c:bubble3D val="0"/>
            <c:spPr>
              <a:solidFill>
                <a:srgbClr val="C530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479-44E3-8C97-378A29376B7B}"/>
              </c:ext>
            </c:extLst>
          </c:dPt>
          <c:cat>
            <c:strRef>
              <c:f>Sheet1!$A$2:$A$5</c:f>
              <c:strCache>
                <c:ptCount val="4"/>
                <c:pt idx="0">
                  <c:v>MINIMAL (38.3%)</c:v>
                </c:pt>
                <c:pt idx="1">
                  <c:v>LOW (33.1%)</c:v>
                </c:pt>
                <c:pt idx="2">
                  <c:v>MEDIUM (18.1%)</c:v>
                </c:pt>
                <c:pt idx="3">
                  <c:v>HIGH (10.5%)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38.299999999999997</c:v>
                </c:pt>
                <c:pt idx="1">
                  <c:v>33.1</c:v>
                </c:pt>
                <c:pt idx="2">
                  <c:v>18.100000000000001</c:v>
                </c:pt>
                <c:pt idx="3">
                  <c:v>10.5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479-44E3-8C97-378A29376B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202C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6CE1AF-7870-49D5-97F9-D421E2424797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FA64B4-CCF2-4DA5-9978-EAE0789878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0243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project is Predicting rail segment disruptions using imbalance-aware machine learning. I’ll quickly explain the problem, my approach, and the results, then I’ll move into a live demo of the prototype and outputs.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A64B4-CCF2-4DA5-9978-EAE0789878E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53505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Rail delays propagate; disruptions are rare. That creates class imbalance, so accuracy is misleading. </a:t>
            </a:r>
            <a:r>
              <a:rPr lang="en-US"/>
              <a:t>We need early warning + decision-support risk scoring.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A64B4-CCF2-4DA5-9978-EAE0789878EB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03347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Aim: build an imbalance-aware, leakage-safe prototype for segment-level disruption risk. Objectives: segment mapping, threshold label, time-aware split, compare LR/RF/XGB, evaluate with PR-AUC + P/R/F1, output ranked segments + risk tiers.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A64B4-CCF2-4DA5-9978-EAE0789878EB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38490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risks drive design: temporal leakage (so chronological splits) and class imbalance (so PR-AUC, not accuracy). SMOTE is train-only if used.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A64B4-CCF2-4DA5-9978-EAE0789878EB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10823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Ingest CSV → clean → segment ID (</a:t>
            </a:r>
            <a:r>
              <a:rPr lang="en-US" dirty="0" err="1"/>
              <a:t>from→to</a:t>
            </a:r>
            <a:r>
              <a:rPr lang="en-US" dirty="0"/>
              <a:t>) → label (≥5 min) → leakage-safe features → time split → train models → evaluate → calibrated risk ranking.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A64B4-CCF2-4DA5-9978-EAE0789878EB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36611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 NJ Transit + Amtrak (NEC) logs. Segment-level is more actionable than station-level. Disruption label is delay-threshold proxy because public cause labels aren’t stable.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A64B4-CCF2-4DA5-9978-EAE0789878EB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12449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“Prototype 1: feasibility baseline (LR) and pipeline correctness. P1.5: expand to 3 months. Prototype 2: 6 months + model comparison + imbalance methods. Prototype 3: cross-year holdout + segment-history features + decision-support outputs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A64B4-CCF2-4DA5-9978-EAE0789878EB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8943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Best model: XGBoost + class weights. Cross-year PR-AUC ≈ 0.513; table shows Precision ≈ 0.473, Recall ≈ 0.552, F1 ≈ 0.509 at the standard eval point. SMOTE boosts recall but drops precision → more false alarms.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A64B4-CCF2-4DA5-9978-EAE0789878EB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31980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Performance improves across prototypes mainly from stronger features + time-safe evaluation. Stricter disruption threshold increases imbalance and makes detection harder, so ≥5 min is primary; ≥10 is sensitivity.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A64B4-CCF2-4DA5-9978-EAE0789878EB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47430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Calibration improves probability meaning for risk scoring. Threshold tuning sets an operating point depending on false-alarm vs missed-disruption trade-off (I’ll show this live in demo).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A64B4-CCF2-4DA5-9978-EAE0789878EB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31446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Outputs: ranked segments + risk tiers. Predicted vs actual per segment validates that higher predicted risk corresponds to higher observed disruption rates.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A64B4-CCF2-4DA5-9978-EAE0789878EB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55813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XGB+CW best under time shift; time-aware evaluation is essential; SMOTE trade-off is recall↑ precision↓; lag/rolling segment history mattered most; calibration makes scores usable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A64B4-CCF2-4DA5-9978-EAE0789878EB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16680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Limitations: proxy label, single network dataset, offline prototype not deployed live. Future work: weather/planned works, more networks, live pipeline, graph modelling if data supports.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A64B4-CCF2-4DA5-9978-EAE0789878EB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4766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A64B4-CCF2-4DA5-9978-EAE0789878EB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0351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7E656B20-0CFC-4BD2-B942-B1C0B522C862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17F0F67-59FF-4B0B-AB46-3EC140489C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4721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56B20-0CFC-4BD2-B942-B1C0B522C862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0F67-59FF-4B0B-AB46-3EC140489C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8464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7E656B20-0CFC-4BD2-B942-B1C0B522C862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E17F0F67-59FF-4B0B-AB46-3EC140489C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7545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56B20-0CFC-4BD2-B942-B1C0B522C862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0F67-59FF-4B0B-AB46-3EC140489C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5697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56B20-0CFC-4BD2-B942-B1C0B522C862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0F67-59FF-4B0B-AB46-3EC140489C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407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56B20-0CFC-4BD2-B942-B1C0B522C862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0F67-59FF-4B0B-AB46-3EC140489C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2938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56B20-0CFC-4BD2-B942-B1C0B522C862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0F67-59FF-4B0B-AB46-3EC140489C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3982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56B20-0CFC-4BD2-B942-B1C0B522C862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GB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17F0F67-59FF-4B0B-AB46-3EC140489CF0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94771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7E656B20-0CFC-4BD2-B942-B1C0B522C862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17F0F67-59FF-4B0B-AB46-3EC140489CF0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05420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56B20-0CFC-4BD2-B942-B1C0B522C862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0F67-59FF-4B0B-AB46-3EC140489C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5156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56B20-0CFC-4BD2-B942-B1C0B522C862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0F67-59FF-4B0B-AB46-3EC140489C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3102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E656B20-0CFC-4BD2-B942-B1C0B522C862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17F0F67-59FF-4B0B-AB46-3EC140489C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8851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uelEdozie/rail-segment-disruption-prediction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inkedin.com/in/samuel-edozie-138769233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B645BD8A-B13F-463A-9101-4FB883F06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4B934719-2D81-443B-8FB8-9CA4FFF2E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3190" y="457200"/>
            <a:ext cx="11281609" cy="5943603"/>
          </a:xfrm>
          <a:prstGeom prst="rect">
            <a:avLst/>
          </a:prstGeom>
          <a:ln w="6350" cap="flat" cmpd="sng" algn="ctr">
            <a:noFill/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4556E2-4A42-2B3B-84E2-F8303BC31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1369" y="1106424"/>
            <a:ext cx="6699963" cy="4633289"/>
          </a:xfrm>
        </p:spPr>
        <p:txBody>
          <a:bodyPr>
            <a:normAutofit/>
          </a:bodyPr>
          <a:lstStyle/>
          <a:p>
            <a:pPr algn="r"/>
            <a:r>
              <a:rPr lang="en-GB" sz="3200" noProof="0" dirty="0">
                <a:solidFill>
                  <a:schemeClr val="tx1"/>
                </a:solidFill>
              </a:rPr>
              <a:t>Predicting segment rail disruptions using imbalance- aware machine learning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A42671-F96D-7817-19AF-479C17B720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54287" y="1158241"/>
            <a:ext cx="2615299" cy="4581473"/>
          </a:xfrm>
        </p:spPr>
        <p:txBody>
          <a:bodyPr anchor="ctr">
            <a:normAutofit/>
          </a:bodyPr>
          <a:lstStyle/>
          <a:p>
            <a:pPr algn="l"/>
            <a:r>
              <a:rPr lang="en-GB" sz="1700" noProof="0" dirty="0"/>
              <a:t>Samuel Edozie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29CC623-FD26-47FD-9E70-44325D453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2" y="2057401"/>
            <a:ext cx="0" cy="274320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6320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A7B58-7AA4-D5B5-173C-7B86D2535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noProof="0" dirty="0"/>
              <a:t>Rail disruption is a rare-event prediction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09254-2FDD-07C8-5CFB-BF189C85E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noProof="0" dirty="0"/>
              <a:t>Disruptions cascade</a:t>
            </a:r>
          </a:p>
          <a:p>
            <a:r>
              <a:rPr lang="en-GB" noProof="0" dirty="0"/>
              <a:t>Minor delays on one segment ripple into network-wide knock-on effects, resulting in  missed connections, overcrowding, lost time and trust in the service.</a:t>
            </a:r>
          </a:p>
          <a:p>
            <a:pPr marL="0" indent="0">
              <a:buNone/>
            </a:pPr>
            <a:endParaRPr lang="en-GB" noProof="0" dirty="0"/>
          </a:p>
          <a:p>
            <a:pPr marL="0" indent="0">
              <a:buNone/>
            </a:pPr>
            <a:endParaRPr lang="en-GB" noProof="0" dirty="0"/>
          </a:p>
          <a:p>
            <a:pPr marL="0" indent="0">
              <a:buNone/>
            </a:pPr>
            <a:r>
              <a:rPr lang="en-GB" b="1" noProof="0" dirty="0"/>
              <a:t>But disruptions are rare</a:t>
            </a:r>
          </a:p>
          <a:p>
            <a:r>
              <a:rPr lang="en-GB" noProof="0" dirty="0"/>
              <a:t>On-time movements dominate the dataset. A naive model can score high on accuracy by ignoring disruptions entirely, which is useless for early warning.</a:t>
            </a:r>
          </a:p>
        </p:txBody>
      </p:sp>
    </p:spTree>
    <p:extLst>
      <p:ext uri="{BB962C8B-B14F-4D97-AF65-F5344CB8AC3E}">
        <p14:creationId xmlns:p14="http://schemas.microsoft.com/office/powerpoint/2010/main" val="1300440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DFAD3-6E5F-490A-FB3B-E46DC4BB8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002268"/>
          </a:xfrm>
        </p:spPr>
        <p:txBody>
          <a:bodyPr>
            <a:normAutofit/>
          </a:bodyPr>
          <a:lstStyle/>
          <a:p>
            <a:r>
              <a:rPr lang="en-GB" sz="3000" noProof="0" dirty="0"/>
              <a:t>Aim &amp; Objectives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9EB5F1-49B9-7304-3E92-59625AF33AEA}"/>
              </a:ext>
            </a:extLst>
          </p:cNvPr>
          <p:cNvSpPr txBox="1"/>
          <p:nvPr/>
        </p:nvSpPr>
        <p:spPr>
          <a:xfrm>
            <a:off x="1066800" y="1644862"/>
            <a:ext cx="103093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noProof="0" dirty="0"/>
              <a:t>Aim: Build and evaluate an imbalance-aware early-warning prototype that predicts segment-level rail disruption risk and outputs calibrated risk scores for decision support.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A4BEAB-3968-2B5E-6BA6-58BDADEF2550}"/>
              </a:ext>
            </a:extLst>
          </p:cNvPr>
          <p:cNvSpPr txBox="1"/>
          <p:nvPr/>
        </p:nvSpPr>
        <p:spPr>
          <a:xfrm>
            <a:off x="4358640" y="2559791"/>
            <a:ext cx="310895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noProof="0" dirty="0"/>
              <a:t>Leakage Safe Pipeline</a:t>
            </a:r>
          </a:p>
          <a:p>
            <a:r>
              <a:rPr lang="en-GB" noProof="0" dirty="0"/>
              <a:t>Past-only features; calendar effects and rolling segment history shifted to avoid future info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7B3D38-AD9F-4627-A39A-2E86BCE4444F}"/>
              </a:ext>
            </a:extLst>
          </p:cNvPr>
          <p:cNvSpPr txBox="1"/>
          <p:nvPr/>
        </p:nvSpPr>
        <p:spPr>
          <a:xfrm>
            <a:off x="8267206" y="2494281"/>
            <a:ext cx="310895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noProof="0" dirty="0"/>
              <a:t>Baseline &amp; comparators</a:t>
            </a:r>
          </a:p>
          <a:p>
            <a:r>
              <a:rPr lang="en-GB" noProof="0" dirty="0"/>
              <a:t>Logistic Regression (interpretable baseline) vs Random Forest vs XGBoost under identical splits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6736EE-F19F-827F-5B09-6630A23F2114}"/>
              </a:ext>
            </a:extLst>
          </p:cNvPr>
          <p:cNvSpPr txBox="1"/>
          <p:nvPr/>
        </p:nvSpPr>
        <p:spPr>
          <a:xfrm>
            <a:off x="8267206" y="4523316"/>
            <a:ext cx="310895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noProof="0" dirty="0"/>
              <a:t>Reproducible evaluation</a:t>
            </a:r>
          </a:p>
          <a:p>
            <a:r>
              <a:rPr lang="en-GB" noProof="0" dirty="0"/>
              <a:t>Time-aware splits, PR-AUC / precision / recall / F1 over accuracy,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91A88C-E722-FDE1-9C70-EA150BD75D4B}"/>
              </a:ext>
            </a:extLst>
          </p:cNvPr>
          <p:cNvSpPr txBox="1"/>
          <p:nvPr/>
        </p:nvSpPr>
        <p:spPr>
          <a:xfrm>
            <a:off x="4358640" y="4482676"/>
            <a:ext cx="310895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noProof="0" dirty="0"/>
              <a:t>Calibrated risk outputs</a:t>
            </a:r>
          </a:p>
          <a:p>
            <a:r>
              <a:rPr lang="en-GB" noProof="0" dirty="0"/>
              <a:t>Probability calibration + tuned operating threshold; ranked segments grouped into risk tiers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60FF38-7FEB-2B58-68A4-9796AB47656A}"/>
              </a:ext>
            </a:extLst>
          </p:cNvPr>
          <p:cNvSpPr txBox="1"/>
          <p:nvPr/>
        </p:nvSpPr>
        <p:spPr>
          <a:xfrm>
            <a:off x="624840" y="4474474"/>
            <a:ext cx="310895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noProof="0" dirty="0"/>
              <a:t>Imbalance handling</a:t>
            </a:r>
          </a:p>
          <a:p>
            <a:r>
              <a:rPr lang="en-GB" noProof="0" dirty="0"/>
              <a:t>Class weighting as default; SMOTE applied train-only as a sensitivity check, never on test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8B01A6-6BC8-05C5-6B30-9ED8EC207C96}"/>
              </a:ext>
            </a:extLst>
          </p:cNvPr>
          <p:cNvSpPr txBox="1"/>
          <p:nvPr/>
        </p:nvSpPr>
        <p:spPr>
          <a:xfrm>
            <a:off x="624840" y="2559791"/>
            <a:ext cx="310895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noProof="0" dirty="0"/>
              <a:t>Dataset &amp; labelling</a:t>
            </a:r>
          </a:p>
          <a:p>
            <a:r>
              <a:rPr lang="en-GB" noProof="0" dirty="0"/>
              <a:t>Public NJ Transit + Amtrak (NEC) data; segment = directional </a:t>
            </a:r>
            <a:r>
              <a:rPr lang="en-GB" noProof="0" dirty="0" err="1"/>
              <a:t>from→to</a:t>
            </a:r>
            <a:r>
              <a:rPr lang="en-GB" noProof="0" dirty="0"/>
              <a:t>; reproducible delay-threshold label</a:t>
            </a:r>
          </a:p>
        </p:txBody>
      </p:sp>
    </p:spTree>
    <p:extLst>
      <p:ext uri="{BB962C8B-B14F-4D97-AF65-F5344CB8AC3E}">
        <p14:creationId xmlns:p14="http://schemas.microsoft.com/office/powerpoint/2010/main" val="184601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92DC0-E6B0-536F-0FB5-525A5195E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noProof="0" dirty="0"/>
              <a:t>Two challenges shape every design decision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13156C49-A064-4DE8-8F26-9283165C3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166594"/>
            <a:ext cx="4785360" cy="3931920"/>
          </a:xfrm>
        </p:spPr>
        <p:txBody>
          <a:bodyPr/>
          <a:lstStyle/>
          <a:p>
            <a:pPr marL="0" indent="0">
              <a:buNone/>
            </a:pPr>
            <a:r>
              <a:rPr lang="en-GB" b="1" noProof="0" dirty="0"/>
              <a:t>Temporal leakage</a:t>
            </a:r>
          </a:p>
          <a:p>
            <a:pPr marL="0" indent="0">
              <a:buNone/>
            </a:pPr>
            <a:r>
              <a:rPr lang="en-GB" noProof="0" dirty="0"/>
              <a:t>Time-ordered data breaks random splits</a:t>
            </a:r>
          </a:p>
          <a:p>
            <a:r>
              <a:rPr lang="en-GB" noProof="0" dirty="0"/>
              <a:t>Random shuffling lets models learn from the future inflated metrics, no real-world value</a:t>
            </a:r>
          </a:p>
          <a:p>
            <a:r>
              <a:rPr lang="en-GB" noProof="0" dirty="0"/>
              <a:t>Splits must be chronological: train on earlier, validate intermediate, test on later</a:t>
            </a:r>
          </a:p>
          <a:p>
            <a:r>
              <a:rPr lang="en-GB" noProof="0" dirty="0"/>
              <a:t>Lag features must be shifted; SMOTE applied train-only, never to validation or test</a:t>
            </a:r>
          </a:p>
          <a:p>
            <a:endParaRPr lang="en-GB" noProof="0" dirty="0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BFC5885F-E772-AE47-260F-B7A0E644D489}"/>
              </a:ext>
            </a:extLst>
          </p:cNvPr>
          <p:cNvSpPr txBox="1">
            <a:spLocks/>
          </p:cNvSpPr>
          <p:nvPr/>
        </p:nvSpPr>
        <p:spPr>
          <a:xfrm>
            <a:off x="1219200" y="2166594"/>
            <a:ext cx="478536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noProof="0" dirty="0"/>
              <a:t>Class imbalance</a:t>
            </a:r>
          </a:p>
          <a:p>
            <a:pPr marL="0" indent="0">
              <a:buNone/>
            </a:pPr>
            <a:r>
              <a:rPr lang="en-GB" noProof="0" dirty="0"/>
              <a:t>Disruptions are the minority class</a:t>
            </a:r>
          </a:p>
          <a:p>
            <a:r>
              <a:rPr lang="en-GB" noProof="0" dirty="0"/>
              <a:t>Accuracy is misleading ,predicting "no disruption" looks strong but catches nothing</a:t>
            </a:r>
          </a:p>
          <a:p>
            <a:r>
              <a:rPr lang="en-GB" noProof="0" dirty="0"/>
              <a:t>Stricter thresholds (≥10 min) shrink the positive class further and increase imbalance substantially.</a:t>
            </a:r>
          </a:p>
          <a:p>
            <a:r>
              <a:rPr lang="en-GB" noProof="0" dirty="0"/>
              <a:t>Evaluation prioritises PR-AUC, precision, recall and F1 not accuracy</a:t>
            </a:r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558665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6EACE-2D10-22A4-5287-DB20EED93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r>
              <a:rPr lang="en-GB" sz="4400" noProof="0"/>
              <a:t>End-to-end leakage-safe pipeline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2E15E1-592B-ABD8-DD04-3D1D40CF6A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065" y="3343353"/>
            <a:ext cx="2470030" cy="13716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b="1" dirty="0"/>
              <a:t>Time-aware splits</a:t>
            </a:r>
          </a:p>
          <a:p>
            <a:r>
              <a:rPr lang="en-US" dirty="0"/>
              <a:t>Train on earlier periods, test on later so no random shuffling</a:t>
            </a:r>
          </a:p>
          <a:p>
            <a:endParaRPr lang="en-GB" dirty="0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FC928E21-E28C-1402-8884-110EDE8DFB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47" r="-2" b="1514"/>
          <a:stretch>
            <a:fillRect/>
          </a:stretch>
        </p:blipFill>
        <p:spPr>
          <a:xfrm>
            <a:off x="8009684" y="1880800"/>
            <a:ext cx="3638029" cy="4376560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73AF1CE0-50CF-0EBB-BE08-F213E479B39A}"/>
              </a:ext>
            </a:extLst>
          </p:cNvPr>
          <p:cNvSpPr txBox="1">
            <a:spLocks/>
          </p:cNvSpPr>
          <p:nvPr/>
        </p:nvSpPr>
        <p:spPr>
          <a:xfrm>
            <a:off x="2823656" y="3343353"/>
            <a:ext cx="2470030" cy="137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/>
              <a:t>Train-only features</a:t>
            </a:r>
          </a:p>
          <a:p>
            <a:r>
              <a:rPr lang="en-US" dirty="0"/>
              <a:t>SMOTE never touches validation or test partitions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73F58E2-F5C0-0C6F-571E-FDB7DA3B3D56}"/>
              </a:ext>
            </a:extLst>
          </p:cNvPr>
          <p:cNvSpPr txBox="1">
            <a:spLocks/>
          </p:cNvSpPr>
          <p:nvPr/>
        </p:nvSpPr>
        <p:spPr>
          <a:xfrm>
            <a:off x="5293686" y="3343353"/>
            <a:ext cx="2470030" cy="1371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/>
              <a:t>Past-only features</a:t>
            </a:r>
          </a:p>
          <a:p>
            <a:r>
              <a:rPr lang="en-US" dirty="0"/>
              <a:t>Rolling segment history shifted to use only prior information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880C16-BC50-91EC-087D-9F14A30A8FD8}"/>
              </a:ext>
            </a:extLst>
          </p:cNvPr>
          <p:cNvSpPr txBox="1"/>
          <p:nvPr/>
        </p:nvSpPr>
        <p:spPr>
          <a:xfrm>
            <a:off x="1650464" y="2817936"/>
            <a:ext cx="50637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Guardrails embedded in the pipeline</a:t>
            </a:r>
          </a:p>
        </p:txBody>
      </p:sp>
    </p:spTree>
    <p:extLst>
      <p:ext uri="{BB962C8B-B14F-4D97-AF65-F5344CB8AC3E}">
        <p14:creationId xmlns:p14="http://schemas.microsoft.com/office/powerpoint/2010/main" val="1886088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5B0FB-F2B9-DC6C-53F8-D83CFABB6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GB" sz="3000" noProof="0" dirty="0"/>
              <a:t>NJ Transit + Amtrak (NEC) - segment-level labelling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9126B7C-AFAC-B58E-0C61-BD4EBA7EB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2087828"/>
            <a:ext cx="5557520" cy="12192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500" b="1" noProof="0" dirty="0"/>
              <a:t>Why this dataset</a:t>
            </a:r>
          </a:p>
          <a:p>
            <a:pPr marL="0" indent="0">
              <a:buNone/>
            </a:pPr>
            <a:r>
              <a:rPr lang="en-GB" sz="1500" noProof="0" dirty="0"/>
              <a:t>Stop-level performance records with timestamps and delay measurements which are consistent enough for supervised learning under public-data constraints.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CB060513-7C34-22BC-E918-C7284C0EEF59}"/>
              </a:ext>
            </a:extLst>
          </p:cNvPr>
          <p:cNvSpPr txBox="1">
            <a:spLocks/>
          </p:cNvSpPr>
          <p:nvPr/>
        </p:nvSpPr>
        <p:spPr>
          <a:xfrm>
            <a:off x="294640" y="3465817"/>
            <a:ext cx="5557520" cy="14833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Garamond" pitchFamily="18" charset="0"/>
              <a:buNone/>
            </a:pPr>
            <a:r>
              <a:rPr lang="en-GB" sz="1500" b="1" noProof="0" dirty="0"/>
              <a:t>Why a delay threshold (not incident causes)</a:t>
            </a:r>
          </a:p>
          <a:p>
            <a:r>
              <a:rPr lang="en-GB" sz="1500" noProof="0" dirty="0"/>
              <a:t>Public datasets rarely provide stable, reliable incident-cause labels. A transparent ≥ 5 min delay rule is reproducible and lets the model focus on disruption risk and not causal diagnosis.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DE3FEC2-98F5-A4CF-EC64-406E5945347B}"/>
              </a:ext>
            </a:extLst>
          </p:cNvPr>
          <p:cNvSpPr txBox="1">
            <a:spLocks/>
          </p:cNvSpPr>
          <p:nvPr/>
        </p:nvSpPr>
        <p:spPr>
          <a:xfrm>
            <a:off x="294640" y="5090160"/>
            <a:ext cx="5557520" cy="1219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500" b="1" noProof="0" dirty="0"/>
              <a:t>Why segment-level (not station-level)</a:t>
            </a:r>
          </a:p>
          <a:p>
            <a:r>
              <a:rPr lang="en-GB" sz="1500" noProof="0" dirty="0"/>
              <a:t>A station can be affected by upstream issues. A directional segment (from → to) localises risk to the specific link where disruption is observed.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38634DD1-767E-D30E-4A24-9906C7DA25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0713314"/>
              </p:ext>
            </p:extLst>
          </p:nvPr>
        </p:nvGraphicFramePr>
        <p:xfrm>
          <a:off x="6413500" y="2438400"/>
          <a:ext cx="52578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10D3CEEC-09C8-0DFF-2EA8-FA90E87B70C5}"/>
              </a:ext>
            </a:extLst>
          </p:cNvPr>
          <p:cNvSpPr txBox="1"/>
          <p:nvPr/>
        </p:nvSpPr>
        <p:spPr>
          <a:xfrm>
            <a:off x="6268722" y="2025610"/>
            <a:ext cx="5257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noProof="0" dirty="0"/>
              <a:t>Label distribution by threshold</a:t>
            </a:r>
          </a:p>
        </p:txBody>
      </p:sp>
    </p:spTree>
    <p:extLst>
      <p:ext uri="{BB962C8B-B14F-4D97-AF65-F5344CB8AC3E}">
        <p14:creationId xmlns:p14="http://schemas.microsoft.com/office/powerpoint/2010/main" val="3118146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90667-4849-BC67-453D-733ADBBBB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Autofit/>
          </a:bodyPr>
          <a:lstStyle/>
          <a:p>
            <a:pPr algn="ctr"/>
            <a:r>
              <a:rPr lang="en-GB" sz="3000" noProof="0" dirty="0"/>
              <a:t>Three iterative prototypes - risk-managed scope</a:t>
            </a:r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99C12B17-50F8-C866-389E-EFD6ACED373D}"/>
              </a:ext>
            </a:extLst>
          </p:cNvPr>
          <p:cNvSpPr txBox="1">
            <a:spLocks/>
          </p:cNvSpPr>
          <p:nvPr/>
        </p:nvSpPr>
        <p:spPr>
          <a:xfrm>
            <a:off x="1066800" y="2103120"/>
            <a:ext cx="3576320" cy="39319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noProof="0" dirty="0"/>
              <a:t>P1+ P1.5 </a:t>
            </a:r>
          </a:p>
          <a:p>
            <a:pPr marL="0" indent="0">
              <a:buNone/>
            </a:pPr>
            <a:r>
              <a:rPr lang="en-GB" b="1" noProof="0" dirty="0"/>
              <a:t>Feasibility baseline</a:t>
            </a:r>
          </a:p>
          <a:p>
            <a:pPr marL="0" indent="0">
              <a:buNone/>
            </a:pPr>
            <a:r>
              <a:rPr lang="en-GB" noProof="0" dirty="0"/>
              <a:t>1–3 months • LR baseline</a:t>
            </a:r>
          </a:p>
          <a:p>
            <a:pPr marL="0" indent="0">
              <a:buNone/>
            </a:pPr>
            <a:endParaRPr lang="en-GB" noProof="0" dirty="0"/>
          </a:p>
          <a:p>
            <a:r>
              <a:rPr lang="en-GB" noProof="0" dirty="0"/>
              <a:t>Single-month → 3-month window</a:t>
            </a:r>
          </a:p>
          <a:p>
            <a:r>
              <a:rPr lang="en-GB" noProof="0" dirty="0"/>
              <a:t>Established label, time split, PR-AUC</a:t>
            </a:r>
          </a:p>
          <a:p>
            <a:r>
              <a:rPr lang="en-GB" noProof="0" dirty="0"/>
              <a:t>Verified pipeline before scaling</a:t>
            </a:r>
          </a:p>
          <a:p>
            <a:endParaRPr lang="en-GB" noProof="0" dirty="0"/>
          </a:p>
          <a:p>
            <a:pPr marL="0" indent="0">
              <a:buNone/>
            </a:pPr>
            <a:r>
              <a:rPr lang="en-GB" noProof="0" dirty="0"/>
              <a:t>Best PR-AUC Score: </a:t>
            </a:r>
            <a:r>
              <a:rPr lang="en-GB" b="1" noProof="0" dirty="0"/>
              <a:t>0.29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2E90C9FA-620D-80FA-AA42-5462DF741FD7}"/>
              </a:ext>
            </a:extLst>
          </p:cNvPr>
          <p:cNvSpPr txBox="1">
            <a:spLocks/>
          </p:cNvSpPr>
          <p:nvPr/>
        </p:nvSpPr>
        <p:spPr>
          <a:xfrm>
            <a:off x="8138160" y="2014194"/>
            <a:ext cx="3576320" cy="39319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noProof="0" dirty="0"/>
              <a:t>P3 </a:t>
            </a:r>
          </a:p>
          <a:p>
            <a:pPr marL="0" indent="0">
              <a:buNone/>
            </a:pPr>
            <a:r>
              <a:rPr lang="en-GB" b="1" noProof="0" dirty="0"/>
              <a:t>Cross-year + lag features</a:t>
            </a:r>
          </a:p>
          <a:p>
            <a:pPr marL="0" indent="0">
              <a:buNone/>
            </a:pPr>
            <a:r>
              <a:rPr lang="en-GB" noProof="0" dirty="0"/>
              <a:t>8 months • cross-year hold-out</a:t>
            </a:r>
          </a:p>
          <a:p>
            <a:pPr marL="0" indent="0">
              <a:buNone/>
            </a:pPr>
            <a:endParaRPr lang="en-GB" noProof="0" dirty="0"/>
          </a:p>
          <a:p>
            <a:pPr marL="0" indent="0">
              <a:buNone/>
            </a:pPr>
            <a:endParaRPr lang="en-GB" noProof="0" dirty="0"/>
          </a:p>
          <a:p>
            <a:r>
              <a:rPr lang="en-GB" noProof="0" dirty="0"/>
              <a:t>Leakage-safe 7-day rolling segment history</a:t>
            </a:r>
          </a:p>
          <a:p>
            <a:r>
              <a:rPr lang="en-GB" noProof="0" dirty="0"/>
              <a:t>Probability calibration + threshold tuning</a:t>
            </a:r>
          </a:p>
          <a:p>
            <a:r>
              <a:rPr lang="en-GB" noProof="0" dirty="0"/>
              <a:t>Ranked segments + risk tiers</a:t>
            </a:r>
          </a:p>
          <a:p>
            <a:endParaRPr lang="en-GB" noProof="0" dirty="0"/>
          </a:p>
          <a:p>
            <a:r>
              <a:rPr lang="en-GB" noProof="0" dirty="0"/>
              <a:t>Best PR-AUC Score: </a:t>
            </a:r>
            <a:r>
              <a:rPr lang="en-GB" b="1" noProof="0" dirty="0"/>
              <a:t>0.51</a:t>
            </a:r>
          </a:p>
          <a:p>
            <a:endParaRPr lang="en-GB" noProof="0" dirty="0"/>
          </a:p>
          <a:p>
            <a:endParaRPr lang="en-GB" noProof="0" dirty="0"/>
          </a:p>
        </p:txBody>
      </p:sp>
      <p:sp>
        <p:nvSpPr>
          <p:cNvPr id="20" name="Content Placeholder 4">
            <a:extLst>
              <a:ext uri="{FF2B5EF4-FFF2-40B4-BE49-F238E27FC236}">
                <a16:creationId xmlns:a16="http://schemas.microsoft.com/office/drawing/2014/main" id="{37313E38-3928-8695-4483-A79471467F16}"/>
              </a:ext>
            </a:extLst>
          </p:cNvPr>
          <p:cNvSpPr txBox="1">
            <a:spLocks/>
          </p:cNvSpPr>
          <p:nvPr/>
        </p:nvSpPr>
        <p:spPr>
          <a:xfrm>
            <a:off x="4602480" y="2103120"/>
            <a:ext cx="3576320" cy="39319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noProof="0" dirty="0"/>
              <a:t>P2 </a:t>
            </a:r>
          </a:p>
          <a:p>
            <a:pPr marL="0" indent="0">
              <a:buNone/>
            </a:pPr>
            <a:r>
              <a:rPr lang="en-GB" b="1" noProof="0" dirty="0"/>
              <a:t>Multi-model comparison</a:t>
            </a:r>
          </a:p>
          <a:p>
            <a:pPr marL="0" indent="0">
              <a:buNone/>
            </a:pPr>
            <a:r>
              <a:rPr lang="en-GB" noProof="0" dirty="0"/>
              <a:t>6 months • LR vs RF vs XGB</a:t>
            </a:r>
          </a:p>
          <a:p>
            <a:endParaRPr lang="en-GB" noProof="0" dirty="0"/>
          </a:p>
          <a:p>
            <a:endParaRPr lang="en-GB" noProof="0" dirty="0"/>
          </a:p>
          <a:p>
            <a:r>
              <a:rPr lang="en-GB" noProof="0" dirty="0"/>
              <a:t>Class weighting + SMOTE (train-only)</a:t>
            </a:r>
          </a:p>
          <a:p>
            <a:r>
              <a:rPr lang="en-GB" noProof="0" dirty="0"/>
              <a:t>Threshold sensitivity at 5 vs 10 min</a:t>
            </a:r>
          </a:p>
          <a:p>
            <a:r>
              <a:rPr lang="en-GB" noProof="0" dirty="0"/>
              <a:t>XGBoost + CW emerged strongest</a:t>
            </a:r>
          </a:p>
          <a:p>
            <a:endParaRPr lang="en-GB" noProof="0" dirty="0"/>
          </a:p>
          <a:p>
            <a:r>
              <a:rPr lang="en-GB" noProof="0" dirty="0"/>
              <a:t>Best PR-AUC Score: </a:t>
            </a:r>
            <a:r>
              <a:rPr lang="en-GB" b="1" noProof="0" dirty="0"/>
              <a:t>0.44</a:t>
            </a:r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86004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0BF21-C472-F8FB-137F-D3A1C37D5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39394"/>
            <a:ext cx="10058400" cy="725172"/>
          </a:xfrm>
        </p:spPr>
        <p:txBody>
          <a:bodyPr>
            <a:normAutofit/>
          </a:bodyPr>
          <a:lstStyle/>
          <a:p>
            <a:r>
              <a:rPr lang="en-GB" sz="3000" noProof="0" dirty="0"/>
              <a:t>XGBoost + class weighting wins on PR-AUC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8C43C92-9494-0C3E-4AB5-F4023EFA60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6800" y="1810994"/>
            <a:ext cx="4399280" cy="460761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noProof="0" dirty="0"/>
              <a:t>Headline metrics (cross-year test)</a:t>
            </a:r>
          </a:p>
          <a:p>
            <a:pPr marL="0" indent="0">
              <a:buNone/>
            </a:pPr>
            <a:r>
              <a:rPr lang="en-GB" noProof="0" dirty="0"/>
              <a:t>Best model XGB + Class weights</a:t>
            </a:r>
          </a:p>
          <a:p>
            <a:pPr marL="0" indent="0">
              <a:buNone/>
            </a:pPr>
            <a:endParaRPr lang="en-GB" noProof="0" dirty="0"/>
          </a:p>
          <a:p>
            <a:r>
              <a:rPr lang="en-GB" noProof="0" dirty="0"/>
              <a:t>PR-AUC	</a:t>
            </a:r>
            <a:r>
              <a:rPr lang="en-GB" b="1" noProof="0" dirty="0"/>
              <a:t>0.513</a:t>
            </a:r>
          </a:p>
          <a:p>
            <a:r>
              <a:rPr lang="en-GB" noProof="0" dirty="0"/>
              <a:t>F1		0.509	</a:t>
            </a:r>
          </a:p>
          <a:p>
            <a:r>
              <a:rPr lang="en-GB" noProof="0" dirty="0"/>
              <a:t>Recall 		0.552</a:t>
            </a:r>
          </a:p>
          <a:p>
            <a:r>
              <a:rPr lang="en-GB" noProof="0" dirty="0"/>
              <a:t>Precision	0.473</a:t>
            </a:r>
          </a:p>
          <a:p>
            <a:endParaRPr lang="en-GB" noProof="0" dirty="0"/>
          </a:p>
          <a:p>
            <a:endParaRPr lang="en-GB" noProof="0" dirty="0"/>
          </a:p>
          <a:p>
            <a:endParaRPr lang="en-GB" noProof="0" dirty="0"/>
          </a:p>
          <a:p>
            <a:pPr marL="0" indent="0">
              <a:buNone/>
            </a:pPr>
            <a:r>
              <a:rPr lang="en-GB" b="1" noProof="0" dirty="0"/>
              <a:t>Why not SMOTE?</a:t>
            </a:r>
          </a:p>
          <a:p>
            <a:r>
              <a:rPr lang="en-GB" noProof="0" dirty="0"/>
              <a:t>Higher recall (0.71) but precision drops to 0.40 but too many false alarms for early warning.</a:t>
            </a:r>
          </a:p>
          <a:p>
            <a:endParaRPr lang="en-GB" noProof="0" dirty="0"/>
          </a:p>
          <a:p>
            <a:endParaRPr lang="en-GB" noProof="0" dirty="0"/>
          </a:p>
          <a:p>
            <a:endParaRPr lang="en-GB" noProof="0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29E4EEE4-C0AA-4445-0831-12F81BA6EC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7635250"/>
              </p:ext>
            </p:extLst>
          </p:nvPr>
        </p:nvGraphicFramePr>
        <p:xfrm>
          <a:off x="375920" y="1572286"/>
          <a:ext cx="685800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831568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2E926-23CE-1AF2-98D1-0E6B89E28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505486"/>
          </a:xfrm>
        </p:spPr>
        <p:txBody>
          <a:bodyPr>
            <a:normAutofit fontScale="90000"/>
          </a:bodyPr>
          <a:lstStyle/>
          <a:p>
            <a:r>
              <a:rPr lang="en-GB" sz="3000" noProof="0" dirty="0"/>
              <a:t>Progression and severity sensitivity</a:t>
            </a:r>
            <a:br>
              <a:rPr lang="en-GB" sz="3000" noProof="0" dirty="0"/>
            </a:br>
            <a:endParaRPr lang="en-GB" sz="30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CE5B1-227D-7381-7166-FF919AD4B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9080" y="4675329"/>
            <a:ext cx="5029200" cy="1854035"/>
          </a:xfrm>
        </p:spPr>
        <p:txBody>
          <a:bodyPr/>
          <a:lstStyle/>
          <a:p>
            <a:pPr marL="0" indent="0">
              <a:buNone/>
            </a:pPr>
            <a:r>
              <a:rPr lang="en-GB" b="1" noProof="0" dirty="0"/>
              <a:t>Stricter = harder</a:t>
            </a:r>
            <a:endParaRPr lang="en-GB" noProof="0" dirty="0"/>
          </a:p>
          <a:p>
            <a:r>
              <a:rPr lang="en-US" dirty="0"/>
              <a:t>Tightening to ≥10 min increases class imbalance substantially; PR-AUC and F1 drop sharply. ≥5 min stays the primary label; ≥10 min is reported as a sensitivity check.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76A5D26E-83DA-4320-6170-C5422B1B9E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4963360"/>
              </p:ext>
            </p:extLst>
          </p:nvPr>
        </p:nvGraphicFramePr>
        <p:xfrm>
          <a:off x="393700" y="2014194"/>
          <a:ext cx="553212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DA2B1FB-E219-21B4-42FD-39079E597125}"/>
              </a:ext>
            </a:extLst>
          </p:cNvPr>
          <p:cNvSpPr txBox="1"/>
          <p:nvPr/>
        </p:nvSpPr>
        <p:spPr>
          <a:xfrm>
            <a:off x="314960" y="15526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noProof="0" dirty="0"/>
              <a:t>PR-AUC across prototypes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D97E368B-80D6-9949-137C-2242A11EFF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2039143"/>
              </p:ext>
            </p:extLst>
          </p:nvPr>
        </p:nvGraphicFramePr>
        <p:xfrm>
          <a:off x="6449060" y="1552694"/>
          <a:ext cx="53492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0478DE96-5607-B493-F215-1959824CA6D9}"/>
              </a:ext>
            </a:extLst>
          </p:cNvPr>
          <p:cNvSpPr txBox="1"/>
          <p:nvPr/>
        </p:nvSpPr>
        <p:spPr>
          <a:xfrm>
            <a:off x="6456680" y="1148080"/>
            <a:ext cx="614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noProof="0" dirty="0"/>
              <a:t>Threshold sensitivity (P3, XGB + CW)</a:t>
            </a:r>
          </a:p>
        </p:txBody>
      </p:sp>
    </p:spTree>
    <p:extLst>
      <p:ext uri="{BB962C8B-B14F-4D97-AF65-F5344CB8AC3E}">
        <p14:creationId xmlns:p14="http://schemas.microsoft.com/office/powerpoint/2010/main" val="3096963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F9591-D77F-85CC-B054-A2CC3D55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779806"/>
          </a:xfrm>
        </p:spPr>
        <p:txBody>
          <a:bodyPr>
            <a:normAutofit fontScale="90000"/>
          </a:bodyPr>
          <a:lstStyle/>
          <a:p>
            <a:r>
              <a:rPr lang="en-GB" sz="3000" noProof="0" dirty="0"/>
              <a:t>Calibrated probabilities, tuned operating point</a:t>
            </a:r>
            <a:br>
              <a:rPr lang="en-GB" sz="3000" noProof="0" dirty="0"/>
            </a:br>
            <a:r>
              <a:rPr lang="en-GB" sz="3000" noProof="0" dirty="0"/>
              <a:t>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92D8ED7-19ED-C653-D15D-7B16CB9FA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886" y="1666240"/>
            <a:ext cx="4561840" cy="372872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b="1" noProof="0" dirty="0"/>
              <a:t>Why this matters</a:t>
            </a:r>
          </a:p>
          <a:p>
            <a:r>
              <a:rPr lang="en-GB" noProof="0" dirty="0"/>
              <a:t>A binary label tells you if a segment is risky. A calibrated probability tells you how risky it may be and lets operators rank segments and trade off recall vs precision against alert volume.</a:t>
            </a:r>
          </a:p>
          <a:p>
            <a:endParaRPr lang="en-GB" noProof="0" dirty="0"/>
          </a:p>
          <a:p>
            <a:pPr marL="0" indent="0">
              <a:buNone/>
            </a:pPr>
            <a:r>
              <a:rPr lang="en-GB" b="1" noProof="0" dirty="0"/>
              <a:t>What was applied</a:t>
            </a:r>
          </a:p>
          <a:p>
            <a:r>
              <a:rPr lang="en-GB" noProof="0" dirty="0"/>
              <a:t>Platt and Isotonic calibration tested via reliability plots; predicted probabilities mapped close to observed disruption frequencies.</a:t>
            </a:r>
          </a:p>
          <a:p>
            <a:r>
              <a:rPr lang="en-GB" noProof="0" dirty="0"/>
              <a:t>Threshold sweep (0.10 → 0.85) selected 0.40 as the operating point and best F1 with non-trivial precision; appropriate where missed disruptions are costly.</a:t>
            </a:r>
          </a:p>
          <a:p>
            <a:endParaRPr lang="en-GB" noProof="0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5D9DF71-5F23-B56D-2530-5EB75476DF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4462748"/>
              </p:ext>
            </p:extLst>
          </p:nvPr>
        </p:nvGraphicFramePr>
        <p:xfrm>
          <a:off x="6469380" y="1666240"/>
          <a:ext cx="53492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86C71C7-FD14-8B8C-481A-3149D0A52F2F}"/>
              </a:ext>
            </a:extLst>
          </p:cNvPr>
          <p:cNvSpPr txBox="1"/>
          <p:nvPr/>
        </p:nvSpPr>
        <p:spPr>
          <a:xfrm>
            <a:off x="6350000" y="12377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noProof="0" dirty="0"/>
              <a:t>Threshold sweep — Prototype 3</a:t>
            </a:r>
          </a:p>
        </p:txBody>
      </p:sp>
    </p:spTree>
    <p:extLst>
      <p:ext uri="{BB962C8B-B14F-4D97-AF65-F5344CB8AC3E}">
        <p14:creationId xmlns:p14="http://schemas.microsoft.com/office/powerpoint/2010/main" val="3845547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0C717-8A67-45A0-3A89-7FA7ACC22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789391"/>
          </a:xfrm>
        </p:spPr>
        <p:txBody>
          <a:bodyPr>
            <a:normAutofit/>
          </a:bodyPr>
          <a:lstStyle/>
          <a:p>
            <a:r>
              <a:rPr lang="en-US" sz="3000" noProof="0" dirty="0"/>
              <a:t>Ranked segments and risk tiers - actionable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CC3B3-09A6-D04B-47A0-BE3B2A985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0" y="4511040"/>
            <a:ext cx="3810000" cy="1524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noProof="0" dirty="0"/>
              <a:t>Concentration of risk</a:t>
            </a:r>
            <a:endParaRPr lang="en-GB" noProof="0" dirty="0"/>
          </a:p>
          <a:p>
            <a:pPr marL="0" indent="0">
              <a:buNone/>
            </a:pPr>
            <a:r>
              <a:rPr lang="en-GB" noProof="0" dirty="0"/>
              <a:t>4 of the top 5 risk segments sit on the Northeast Corridor, ranking surfaces real operational hotspots, not random noise.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002C72A-1502-68F7-C75B-DC62987D1B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8443926"/>
              </p:ext>
            </p:extLst>
          </p:nvPr>
        </p:nvGraphicFramePr>
        <p:xfrm>
          <a:off x="853442" y="2268194"/>
          <a:ext cx="4505960" cy="3322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CC76BEE-8AEF-4057-2C3B-1EF57CB0266C}"/>
              </a:ext>
            </a:extLst>
          </p:cNvPr>
          <p:cNvSpPr txBox="1"/>
          <p:nvPr/>
        </p:nvSpPr>
        <p:spPr>
          <a:xfrm>
            <a:off x="853442" y="1829528"/>
            <a:ext cx="46329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noProof="0" dirty="0"/>
              <a:t>Risk tier distribution (cross-year test)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93E5B23-0C53-987D-69AE-0F3D05B9C8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159782"/>
              </p:ext>
            </p:extLst>
          </p:nvPr>
        </p:nvGraphicFramePr>
        <p:xfrm>
          <a:off x="6360160" y="1852904"/>
          <a:ext cx="5128260" cy="2076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436">
                  <a:extLst>
                    <a:ext uri="{9D8B030D-6E8A-4147-A177-3AD203B41FA5}">
                      <a16:colId xmlns:a16="http://schemas.microsoft.com/office/drawing/2014/main" val="3839793102"/>
                    </a:ext>
                  </a:extLst>
                </a:gridCol>
                <a:gridCol w="1852534">
                  <a:extLst>
                    <a:ext uri="{9D8B030D-6E8A-4147-A177-3AD203B41FA5}">
                      <a16:colId xmlns:a16="http://schemas.microsoft.com/office/drawing/2014/main" val="344875671"/>
                    </a:ext>
                  </a:extLst>
                </a:gridCol>
                <a:gridCol w="1060105">
                  <a:extLst>
                    <a:ext uri="{9D8B030D-6E8A-4147-A177-3AD203B41FA5}">
                      <a16:colId xmlns:a16="http://schemas.microsoft.com/office/drawing/2014/main" val="4233405348"/>
                    </a:ext>
                  </a:extLst>
                </a:gridCol>
                <a:gridCol w="503550">
                  <a:extLst>
                    <a:ext uri="{9D8B030D-6E8A-4147-A177-3AD203B41FA5}">
                      <a16:colId xmlns:a16="http://schemas.microsoft.com/office/drawing/2014/main" val="812812635"/>
                    </a:ext>
                  </a:extLst>
                </a:gridCol>
                <a:gridCol w="583058">
                  <a:extLst>
                    <a:ext uri="{9D8B030D-6E8A-4147-A177-3AD203B41FA5}">
                      <a16:colId xmlns:a16="http://schemas.microsoft.com/office/drawing/2014/main" val="3039331589"/>
                    </a:ext>
                  </a:extLst>
                </a:gridCol>
                <a:gridCol w="397540">
                  <a:extLst>
                    <a:ext uri="{9D8B030D-6E8A-4147-A177-3AD203B41FA5}">
                      <a16:colId xmlns:a16="http://schemas.microsoft.com/office/drawing/2014/main" val="1235302599"/>
                    </a:ext>
                  </a:extLst>
                </a:gridCol>
                <a:gridCol w="371037">
                  <a:extLst>
                    <a:ext uri="{9D8B030D-6E8A-4147-A177-3AD203B41FA5}">
                      <a16:colId xmlns:a16="http://schemas.microsoft.com/office/drawing/2014/main" val="957382620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Rank</a:t>
                      </a:r>
                      <a:endParaRPr lang="en-GB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E6B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Segment</a:t>
                      </a:r>
                      <a:endParaRPr lang="en-GB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E6B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Line</a:t>
                      </a:r>
                      <a:endParaRPr lang="en-GB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E6B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Risk %</a:t>
                      </a:r>
                      <a:endParaRPr lang="en-GB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E6B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Actual</a:t>
                      </a:r>
                      <a:endParaRPr lang="en-GB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E6B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u="none" strike="noStrike" noProof="0" dirty="0" err="1">
                          <a:effectLst/>
                        </a:rPr>
                        <a:t>Obs</a:t>
                      </a:r>
                      <a:endParaRPr lang="en-GB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E6B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Tier</a:t>
                      </a:r>
                      <a:endParaRPr lang="en-GB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E6BD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6258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1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0E9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Linden → Newark Airport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0E9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Northeast </a:t>
                      </a:r>
                      <a:r>
                        <a:rPr lang="en-GB" sz="1100" u="none" strike="noStrike" noProof="0" dirty="0" err="1">
                          <a:effectLst/>
                        </a:rPr>
                        <a:t>Corrdr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0E9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86.30%</a:t>
                      </a:r>
                      <a:endParaRPr lang="en-GB" sz="1100" b="0" i="0" u="none" strike="noStrike" noProof="0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0E9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100.00%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0E9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1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0E9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HIGH</a:t>
                      </a:r>
                      <a:endParaRPr lang="en-GB" sz="1100" b="0" i="0" u="none" strike="noStrike" noProof="0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0E9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44323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2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0E9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Trenton → New Brunswick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0E9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Northeast </a:t>
                      </a:r>
                      <a:r>
                        <a:rPr lang="en-GB" sz="1100" u="none" strike="noStrike" noProof="0" dirty="0" err="1">
                          <a:effectLst/>
                        </a:rPr>
                        <a:t>Corrdr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0E9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85.00%</a:t>
                      </a:r>
                      <a:endParaRPr lang="en-GB" sz="1100" b="0" i="0" u="none" strike="noStrike" noProof="0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0E9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98.40%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0E9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64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0E9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HIGH</a:t>
                      </a:r>
                      <a:endParaRPr lang="en-GB" sz="1100" b="0" i="0" u="none" strike="noStrike" noProof="0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0E9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15750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3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0E9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Linden → Metropark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0E9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Northeast </a:t>
                      </a:r>
                      <a:r>
                        <a:rPr lang="en-GB" sz="1100" u="none" strike="noStrike" noProof="0" dirty="0" err="1">
                          <a:effectLst/>
                        </a:rPr>
                        <a:t>Corrdr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0E9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82.90%</a:t>
                      </a:r>
                      <a:endParaRPr lang="en-GB" sz="1100" b="0" i="0" u="none" strike="noStrike" noProof="0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0E9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66.70%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0E9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3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0E9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HIGH</a:t>
                      </a:r>
                      <a:endParaRPr lang="en-GB" sz="1100" b="0" i="0" u="none" strike="noStrike" noProof="0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0E9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45242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4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0E9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Linden → New Brunswick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0E9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Northeast </a:t>
                      </a:r>
                      <a:r>
                        <a:rPr lang="en-GB" sz="1100" u="none" strike="noStrike" noProof="0" dirty="0" err="1">
                          <a:effectLst/>
                        </a:rPr>
                        <a:t>Corrdr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0E9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82.90%</a:t>
                      </a:r>
                      <a:endParaRPr lang="en-GB" sz="1100" b="0" i="0" u="none" strike="noStrike" noProof="0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0E9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100.00%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0E9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1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0E9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HIGH</a:t>
                      </a:r>
                      <a:endParaRPr lang="en-GB" sz="1100" b="0" i="0" u="none" strike="noStrike" noProof="0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0E9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564414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5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0E9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Linden → Newark Penn </a:t>
                      </a:r>
                      <a:r>
                        <a:rPr lang="en-GB" sz="1100" u="none" strike="noStrike" noProof="0" dirty="0" err="1">
                          <a:effectLst/>
                        </a:rPr>
                        <a:t>Stn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0E9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No Jersey Coast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0E9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82.90%</a:t>
                      </a:r>
                      <a:endParaRPr lang="en-GB" sz="1100" b="0" i="0" u="none" strike="noStrike" noProof="0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0E9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100.00%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0E9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1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0E9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HIGH</a:t>
                      </a:r>
                      <a:endParaRPr lang="en-GB" sz="1100" b="0" i="0" u="none" strike="noStrike" noProof="0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0E9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286772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382FE044-427A-4B96-D7BE-A6D16D575A26}"/>
              </a:ext>
            </a:extLst>
          </p:cNvPr>
          <p:cNvSpPr txBox="1"/>
          <p:nvPr/>
        </p:nvSpPr>
        <p:spPr>
          <a:xfrm>
            <a:off x="6360160" y="1457778"/>
            <a:ext cx="5128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Top 5 highest-risk segments</a:t>
            </a:r>
          </a:p>
        </p:txBody>
      </p:sp>
    </p:spTree>
    <p:extLst>
      <p:ext uri="{BB962C8B-B14F-4D97-AF65-F5344CB8AC3E}">
        <p14:creationId xmlns:p14="http://schemas.microsoft.com/office/powerpoint/2010/main" val="3861696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9B411-C761-9A18-FFC0-521DF6BCD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GB" sz="3000" noProof="0" dirty="0"/>
              <a:t>Key findings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49955B-BBB6-D875-2415-3CC05D7EE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920" y="1910847"/>
            <a:ext cx="4084320" cy="14833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700" b="1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Boosted trees + class weighting was the strongest configuration</a:t>
            </a:r>
          </a:p>
          <a:p>
            <a:r>
              <a:rPr lang="en-GB" sz="17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 + CW achieved cross-year PR-AUC = 0.513 with stable F1 = 0.509. Robust to time shift.</a:t>
            </a:r>
            <a:endParaRPr lang="en-GB" sz="1700" noProof="0" dirty="0"/>
          </a:p>
          <a:p>
            <a:endParaRPr lang="en-GB" sz="1700" noProof="0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146D1FE-B7E3-55D9-9A61-011BE0D9EC5B}"/>
              </a:ext>
            </a:extLst>
          </p:cNvPr>
          <p:cNvSpPr txBox="1">
            <a:spLocks/>
          </p:cNvSpPr>
          <p:nvPr/>
        </p:nvSpPr>
        <p:spPr>
          <a:xfrm>
            <a:off x="1066800" y="3394207"/>
            <a:ext cx="4084320" cy="1449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Garamond" pitchFamily="18" charset="0"/>
              <a:buNone/>
            </a:pPr>
            <a:r>
              <a:rPr lang="en-GB" sz="1700" b="1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traded precision for recall but not the right fit here</a:t>
            </a:r>
          </a:p>
          <a:p>
            <a:r>
              <a:rPr lang="en-GB" sz="17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weighting kept false alarms manageable; SMOTE inflated recall but hurt PR-AUC.</a:t>
            </a:r>
          </a:p>
          <a:p>
            <a:endParaRPr lang="en-GB" sz="1700" noProof="0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3D311D0E-6C50-3011-E186-A418CB8C255B}"/>
              </a:ext>
            </a:extLst>
          </p:cNvPr>
          <p:cNvSpPr txBox="1">
            <a:spLocks/>
          </p:cNvSpPr>
          <p:nvPr/>
        </p:nvSpPr>
        <p:spPr>
          <a:xfrm>
            <a:off x="1137920" y="4877566"/>
            <a:ext cx="4084320" cy="14495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Garamond" pitchFamily="18" charset="0"/>
              <a:buNone/>
            </a:pPr>
            <a:r>
              <a:rPr lang="en-GB" sz="1700" b="1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turned a classifier into decision support</a:t>
            </a:r>
          </a:p>
          <a:p>
            <a:r>
              <a:rPr lang="en-GB" sz="17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probabilities aligned with observed segment rates → actionable ranking and tiers.</a:t>
            </a:r>
          </a:p>
          <a:p>
            <a:endParaRPr lang="en-GB" sz="1700" noProof="0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788FEEE7-1779-C923-E7D3-B010AF685039}"/>
              </a:ext>
            </a:extLst>
          </p:cNvPr>
          <p:cNvSpPr txBox="1">
            <a:spLocks/>
          </p:cNvSpPr>
          <p:nvPr/>
        </p:nvSpPr>
        <p:spPr>
          <a:xfrm>
            <a:off x="6477480" y="1867747"/>
            <a:ext cx="4084320" cy="15264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700" b="1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 mattered more than model complexity</a:t>
            </a:r>
          </a:p>
          <a:p>
            <a:r>
              <a:rPr lang="en-GB" sz="17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Leakage-safe 7-day rolling segment history drove the P2 → P3 gain (0.44 → 0.51), not tuning.</a:t>
            </a:r>
          </a:p>
          <a:p>
            <a:endParaRPr lang="en-GB" sz="1700" noProof="0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AD8F242-776F-F54B-AB69-BAFBFF73B55D}"/>
              </a:ext>
            </a:extLst>
          </p:cNvPr>
          <p:cNvSpPr txBox="1">
            <a:spLocks/>
          </p:cNvSpPr>
          <p:nvPr/>
        </p:nvSpPr>
        <p:spPr>
          <a:xfrm>
            <a:off x="6553200" y="3394206"/>
            <a:ext cx="4084320" cy="14833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Garamond" pitchFamily="18" charset="0"/>
              <a:buNone/>
            </a:pPr>
            <a:r>
              <a:rPr lang="en-GB" sz="1700" b="1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Time-aware evaluation revealed the real performance</a:t>
            </a:r>
          </a:p>
          <a:p>
            <a:r>
              <a:rPr lang="en-GB" sz="17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Cross-year hold-out confirmed generalisation; random splits would have inflated metrics.</a:t>
            </a:r>
          </a:p>
          <a:p>
            <a:endParaRPr lang="en-GB" sz="1700" noProof="0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A3A16E1-97F9-82B4-7AC4-D3351127357D}"/>
              </a:ext>
            </a:extLst>
          </p:cNvPr>
          <p:cNvSpPr txBox="1">
            <a:spLocks/>
          </p:cNvSpPr>
          <p:nvPr/>
        </p:nvSpPr>
        <p:spPr>
          <a:xfrm>
            <a:off x="6553200" y="5017197"/>
            <a:ext cx="4084320" cy="15663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Garamond" pitchFamily="18" charset="0"/>
              <a:buNone/>
            </a:pPr>
            <a:r>
              <a:rPr lang="en-GB" sz="1700" b="1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sensitivity exposed the severity trade-off</a:t>
            </a:r>
          </a:p>
          <a:p>
            <a:r>
              <a:rPr lang="en-GB" sz="17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≥10 min tripled imbalance and halved PR-AUC to ≥5 min held as the primary, defensible label.</a:t>
            </a:r>
          </a:p>
          <a:p>
            <a:endParaRPr lang="en-GB" sz="1700" noProof="0" dirty="0"/>
          </a:p>
        </p:txBody>
      </p:sp>
    </p:spTree>
    <p:extLst>
      <p:ext uri="{BB962C8B-B14F-4D97-AF65-F5344CB8AC3E}">
        <p14:creationId xmlns:p14="http://schemas.microsoft.com/office/powerpoint/2010/main" val="2079754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1F5F7-A1C8-2EE4-2D47-60347E8F7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760" y="497840"/>
            <a:ext cx="10058400" cy="640080"/>
          </a:xfrm>
        </p:spPr>
        <p:txBody>
          <a:bodyPr>
            <a:normAutofit fontScale="90000"/>
          </a:bodyPr>
          <a:lstStyle/>
          <a:p>
            <a:r>
              <a:rPr lang="en-GB" sz="3000" noProof="0" dirty="0"/>
              <a:t>Limitations and where this goes next</a:t>
            </a:r>
            <a:br>
              <a:rPr lang="en-GB" sz="3000" noProof="0" dirty="0"/>
            </a:br>
            <a:endParaRPr lang="en-GB" sz="30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D68EF-5C8C-18DE-680F-85C7FB1458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3479" y="1720610"/>
            <a:ext cx="4704080" cy="439410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400" b="1" noProof="0" dirty="0"/>
              <a:t>Richer external features</a:t>
            </a:r>
          </a:p>
          <a:p>
            <a:r>
              <a:rPr lang="en-GB" sz="1400" noProof="0" dirty="0"/>
              <a:t>Weather summaries, planned engineering works, incident logs where available.</a:t>
            </a:r>
          </a:p>
          <a:p>
            <a:endParaRPr lang="en-GB" sz="1400" noProof="0" dirty="0"/>
          </a:p>
          <a:p>
            <a:pPr marL="0" indent="0">
              <a:buNone/>
            </a:pPr>
            <a:r>
              <a:rPr lang="en-GB" sz="1400" b="1" noProof="0" dirty="0"/>
              <a:t>Cross-network validation</a:t>
            </a:r>
          </a:p>
          <a:p>
            <a:r>
              <a:rPr lang="en-GB" sz="1400" noProof="0" dirty="0"/>
              <a:t>Apply the pipeline to additional rail networks to test generalisation claims.</a:t>
            </a:r>
          </a:p>
          <a:p>
            <a:pPr marL="0" indent="0">
              <a:buNone/>
            </a:pPr>
            <a:endParaRPr lang="en-GB" sz="1400" noProof="0" dirty="0"/>
          </a:p>
          <a:p>
            <a:pPr marL="0" indent="0">
              <a:buNone/>
            </a:pPr>
            <a:r>
              <a:rPr lang="en-GB" sz="1400" b="1" noProof="0" dirty="0"/>
              <a:t>Graph-based propagation</a:t>
            </a:r>
          </a:p>
          <a:p>
            <a:r>
              <a:rPr lang="en-GB" sz="1400" noProof="0" dirty="0"/>
              <a:t>Model how disruptions cascade between connected segments using GNNs</a:t>
            </a:r>
          </a:p>
          <a:p>
            <a:endParaRPr lang="en-GB" sz="1400" noProof="0" dirty="0"/>
          </a:p>
          <a:p>
            <a:pPr marL="0" indent="0">
              <a:buNone/>
            </a:pPr>
            <a:r>
              <a:rPr lang="en-GB" sz="1400" b="1" noProof="0" dirty="0"/>
              <a:t>Streaming early-warning tool</a:t>
            </a:r>
          </a:p>
          <a:p>
            <a:r>
              <a:rPr lang="en-GB" sz="1400" noProof="0" dirty="0"/>
              <a:t>Live ingestion + rolling lag updates → near real-time segment risk scores.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102400-D958-056E-6C88-D827AF650928}"/>
              </a:ext>
            </a:extLst>
          </p:cNvPr>
          <p:cNvSpPr txBox="1"/>
          <p:nvPr/>
        </p:nvSpPr>
        <p:spPr>
          <a:xfrm>
            <a:off x="1133319" y="1137920"/>
            <a:ext cx="485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noProof="0" dirty="0"/>
              <a:t>LIMITATIONS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578897-6EFA-7C81-C49F-5C9C99113AF1}"/>
              </a:ext>
            </a:extLst>
          </p:cNvPr>
          <p:cNvSpPr txBox="1"/>
          <p:nvPr/>
        </p:nvSpPr>
        <p:spPr>
          <a:xfrm>
            <a:off x="6162519" y="1137920"/>
            <a:ext cx="4947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noProof="0" dirty="0"/>
              <a:t>FUTURE WORK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1D6E1D5-1FCC-0EA2-EC81-48A37A66AF42}"/>
              </a:ext>
            </a:extLst>
          </p:cNvPr>
          <p:cNvSpPr txBox="1">
            <a:spLocks/>
          </p:cNvSpPr>
          <p:nvPr/>
        </p:nvSpPr>
        <p:spPr>
          <a:xfrm>
            <a:off x="1005840" y="1634346"/>
            <a:ext cx="4704080" cy="44803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400" b="1" noProof="0" dirty="0"/>
              <a:t>Threshold-based label</a:t>
            </a:r>
          </a:p>
          <a:p>
            <a:r>
              <a:rPr lang="en-GB" sz="1400" noProof="0" dirty="0"/>
              <a:t>≥5 min is a proxy as it predicts disruption risk, not incident cause.</a:t>
            </a:r>
          </a:p>
          <a:p>
            <a:endParaRPr lang="en-GB" sz="1400" noProof="0" dirty="0"/>
          </a:p>
          <a:p>
            <a:pPr marL="0" indent="0">
              <a:buNone/>
            </a:pPr>
            <a:r>
              <a:rPr lang="en-GB" sz="1400" b="1" noProof="0" dirty="0"/>
              <a:t>Single dataset family</a:t>
            </a:r>
          </a:p>
          <a:p>
            <a:r>
              <a:rPr lang="en-GB" sz="1400" noProof="0" dirty="0"/>
              <a:t>Trained on NJ Transit + Amtrak NEC; cross-network generalisation untested.</a:t>
            </a:r>
          </a:p>
          <a:p>
            <a:endParaRPr lang="en-GB" sz="1400" noProof="0" dirty="0"/>
          </a:p>
          <a:p>
            <a:pPr marL="0" indent="0">
              <a:buNone/>
            </a:pPr>
            <a:r>
              <a:rPr lang="en-GB" sz="1400" b="1" noProof="0" dirty="0"/>
              <a:t>Sparse-segment variance</a:t>
            </a:r>
          </a:p>
          <a:p>
            <a:r>
              <a:rPr lang="en-GB" sz="1400" noProof="0" dirty="0"/>
              <a:t>Rare or new segments produce noisier risk scores than well-observed ones</a:t>
            </a:r>
          </a:p>
          <a:p>
            <a:pPr marL="0" indent="0">
              <a:buNone/>
            </a:pPr>
            <a:endParaRPr lang="en-GB" sz="1400" noProof="0" dirty="0"/>
          </a:p>
          <a:p>
            <a:pPr marL="0" indent="0">
              <a:buNone/>
            </a:pPr>
            <a:r>
              <a:rPr lang="en-GB" sz="1400" b="1" noProof="0" dirty="0"/>
              <a:t>Batch, not live</a:t>
            </a:r>
          </a:p>
          <a:p>
            <a:r>
              <a:rPr lang="en-GB" sz="1400" noProof="0" dirty="0"/>
              <a:t>Pipeline runs offline; no streaming ingestion or real-time scoring.</a:t>
            </a:r>
          </a:p>
          <a:p>
            <a:pPr marL="0" indent="0">
              <a:buNone/>
            </a:pPr>
            <a:endParaRPr lang="en-GB" sz="1200" noProof="0" dirty="0"/>
          </a:p>
          <a:p>
            <a:endParaRPr lang="en-GB" sz="1200" noProof="0" dirty="0"/>
          </a:p>
        </p:txBody>
      </p:sp>
    </p:spTree>
    <p:extLst>
      <p:ext uri="{BB962C8B-B14F-4D97-AF65-F5344CB8AC3E}">
        <p14:creationId xmlns:p14="http://schemas.microsoft.com/office/powerpoint/2010/main" val="16952390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6A095-1C53-D97D-6821-A95E27A6F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21AF3-8855-3842-BF22-D4AD38037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5948" y="1463040"/>
            <a:ext cx="10058400" cy="13512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8000" noProof="0" dirty="0"/>
              <a:t>Thank you!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37F8F1-56F1-7BEE-FB93-9A3EA54BC2A2}"/>
              </a:ext>
            </a:extLst>
          </p:cNvPr>
          <p:cNvSpPr txBox="1"/>
          <p:nvPr/>
        </p:nvSpPr>
        <p:spPr>
          <a:xfrm>
            <a:off x="1205948" y="3817566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noProof="0" dirty="0"/>
              <a:t>Samuel Edozie</a:t>
            </a:r>
          </a:p>
          <a:p>
            <a:r>
              <a:rPr lang="en-GB" dirty="0">
                <a:hlinkClick r:id="rId3"/>
              </a:rPr>
              <a:t>https://github.com/SamuelEdozie/rail-segment-disruption-prediction</a:t>
            </a:r>
            <a:endParaRPr lang="en-GB" dirty="0"/>
          </a:p>
          <a:p>
            <a:endParaRPr lang="en-GB" noProof="0" dirty="0"/>
          </a:p>
          <a:p>
            <a:r>
              <a:rPr lang="en-GB" dirty="0">
                <a:hlinkClick r:id="rId4"/>
              </a:rPr>
              <a:t>https://www.linkedin.com/in/samuel-edozie-138769233/</a:t>
            </a:r>
            <a:endParaRPr lang="en-GB" dirty="0"/>
          </a:p>
          <a:p>
            <a:endParaRPr lang="en-GB" dirty="0"/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5901293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3241</TotalTime>
  <Words>1671</Words>
  <Application>Microsoft Office PowerPoint</Application>
  <PresentationFormat>Widescreen</PresentationFormat>
  <Paragraphs>227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 Narrow</vt:lpstr>
      <vt:lpstr>Arial</vt:lpstr>
      <vt:lpstr>Calibri</vt:lpstr>
      <vt:lpstr>Century Gothic</vt:lpstr>
      <vt:lpstr>Garamond</vt:lpstr>
      <vt:lpstr>Savon</vt:lpstr>
      <vt:lpstr>Predicting segment rail disruptions using imbalance- aware machine learning </vt:lpstr>
      <vt:lpstr>Rail disruption is a rare-event prediction problem</vt:lpstr>
      <vt:lpstr>Aim &amp; Objectives</vt:lpstr>
      <vt:lpstr>Two challenges shape every design decision</vt:lpstr>
      <vt:lpstr>End-to-end leakage-safe pipeline</vt:lpstr>
      <vt:lpstr>NJ Transit + Amtrak (NEC) - segment-level labelling</vt:lpstr>
      <vt:lpstr>Three iterative prototypes - risk-managed scope</vt:lpstr>
      <vt:lpstr>XGBoost + class weighting wins on PR-AUC</vt:lpstr>
      <vt:lpstr>Progression and severity sensitivity </vt:lpstr>
      <vt:lpstr>Calibrated probabilities, tuned operating point  </vt:lpstr>
      <vt:lpstr>Ranked segments and risk tiers - actionable output</vt:lpstr>
      <vt:lpstr>Key findings</vt:lpstr>
      <vt:lpstr>Limitations and where this goes next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Edozie</dc:creator>
  <cp:lastModifiedBy>Samuel Edozie</cp:lastModifiedBy>
  <cp:revision>16</cp:revision>
  <dcterms:created xsi:type="dcterms:W3CDTF">2026-05-04T22:26:39Z</dcterms:created>
  <dcterms:modified xsi:type="dcterms:W3CDTF">2026-08-28T00:38:54Z</dcterms:modified>
</cp:coreProperties>
</file>